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7EB55A1-B172-4EF2-A0D2-7C67216A15C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Open: we already have a year-stratified thumbnail corpus. This talk is how DINOv3 is used on it — not a model lecture. 30–40 seconds.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4243054-19C0-46E4-9A2F-72C1C8CC762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Placeholders, not HTTP failures, are the main loss in 2020–21 (~24%). 2024 is cleanest (79% valid). DINOv3 and VLM share this filter. ~1 min.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1210EDB-4979-44AC-A194-10D881705A7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split is the unit of analysis, not the pipeline. Pads are masked so black bars do not become a fake patch cluster. 8×14 = 14×14 ViT grid minus top/bottom pad rows. ~1 min.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8E4BEC-3179-4DEC-9324-B75F0875FDB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ViT-B was a laptop pilot and is archived — do not mix B and L embeddings. 2,291 files ≥4 KB still failed as unreadable at inference; the 8,666 are the embeddable set. ~1 min.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1E7BBF8-E8AB-4FE9-8694-18649F6902A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Stress: clustering is on PCA, not UMAP. Patch HDBSCAN is stricter (30/3 vs 3/1) because there are ~112× more points. k-means n_init=10. ~1 min.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63E282-2157-4E87-85C7-F1702212547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 not treat HDBSCAN noise as failure — it means the corpus is not a handful of templates. Use HDBSCAN for near-dupes; k-means for a complete partition. ~2 min; linger on UMAP.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1801AD9-B22C-46EF-BC43-080E0E818C6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High patch noise is expected: most 16×16 windows are unique. Assigned clusters are the recurring local units (text, skin, furniture, graphic overlays). Compare against CLS types — a thumbnail type is a mix of patch clusters. ~1.5 min.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AD8DBA4-FA01-4627-8A5F-8F268B70DF8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Close on interpretation, not more model work. Offer to walk through a sample grid if there is time. ~45 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CFB1893-36E2-445B-A5D0-36504BDAE79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2191040" cy="7236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5623560"/>
            <a:ext cx="12191040" cy="1233720"/>
          </a:xfrm>
          <a:prstGeom prst="rect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777240" y="1417320"/>
            <a:ext cx="10514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pc="300" strike="noStrike">
                <a:solidFill>
                  <a:srgbClr val="D4A843"/>
                </a:solidFill>
                <a:effectLst/>
                <a:uFillTx/>
                <a:latin typeface="Arial"/>
                <a:ea typeface="Arial"/>
              </a:rPr>
              <a:t>DINOV3 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777240" y="1874520"/>
            <a:ext cx="10606320" cy="19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URW Gothic"/>
                <a:ea typeface="URW Gothic"/>
              </a:rPr>
              <a:t>Thumbnail corpus: embeddings and clustering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777240" y="406908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D4A843"/>
                </a:solidFill>
                <a:effectLst/>
                <a:uFillTx/>
                <a:latin typeface="Arial"/>
                <a:ea typeface="Arial"/>
              </a:rPr>
              <a:t>8,666 valid video thumbnails  ·  ViT-L/16  ·  CLS and patch tracks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777240" y="5989320"/>
            <a:ext cx="10514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E4DD"/>
                </a:solidFill>
                <a:effectLst/>
                <a:uFillTx/>
                <a:latin typeface="Arial"/>
                <a:ea typeface="Arial"/>
              </a:rPr>
              <a:t>Olga Lyashevska  |  Thumbnail study  | 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502920" y="255960"/>
            <a:ext cx="11154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FROM SAMPLE TO EMBEDDABLE IMAGES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502920" y="71316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Year-stratified sample, 2,500 videos per year, 2020–2024. Same ≥ 4 KB / 640×360 filter as the VLM path.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2"/>
          <p:cNvSpPr/>
          <p:nvPr/>
        </p:nvSpPr>
        <p:spPr>
          <a:xfrm>
            <a:off x="502920" y="1234440"/>
            <a:ext cx="2742480" cy="2331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3"/>
          <p:cNvSpPr/>
          <p:nvPr/>
        </p:nvSpPr>
        <p:spPr>
          <a:xfrm>
            <a:off x="502920" y="1234440"/>
            <a:ext cx="2742480" cy="7236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4"/>
          <p:cNvSpPr/>
          <p:nvPr/>
        </p:nvSpPr>
        <p:spPr>
          <a:xfrm>
            <a:off x="502920" y="1554480"/>
            <a:ext cx="27424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12,500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5"/>
          <p:cNvSpPr/>
          <p:nvPr/>
        </p:nvSpPr>
        <p:spPr>
          <a:xfrm>
            <a:off x="594360" y="242316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0E7C86"/>
                </a:solidFill>
                <a:effectLst/>
                <a:uFillTx/>
                <a:latin typeface="URW Gothic"/>
                <a:ea typeface="URW Gothic"/>
              </a:rPr>
              <a:t>SAMPLED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6"/>
          <p:cNvSpPr/>
          <p:nvPr/>
        </p:nvSpPr>
        <p:spPr>
          <a:xfrm>
            <a:off x="594360" y="278892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2,500 / year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7"/>
          <p:cNvSpPr/>
          <p:nvPr/>
        </p:nvSpPr>
        <p:spPr>
          <a:xfrm>
            <a:off x="3429000" y="1234440"/>
            <a:ext cx="2742480" cy="2331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8"/>
          <p:cNvSpPr/>
          <p:nvPr/>
        </p:nvSpPr>
        <p:spPr>
          <a:xfrm>
            <a:off x="3429000" y="1234440"/>
            <a:ext cx="2742480" cy="7236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9"/>
          <p:cNvSpPr/>
          <p:nvPr/>
        </p:nvSpPr>
        <p:spPr>
          <a:xfrm>
            <a:off x="3429000" y="1554480"/>
            <a:ext cx="27424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10,957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0"/>
          <p:cNvSpPr/>
          <p:nvPr/>
        </p:nvSpPr>
        <p:spPr>
          <a:xfrm>
            <a:off x="3520440" y="242316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0E7C86"/>
                </a:solidFill>
                <a:effectLst/>
                <a:uFillTx/>
                <a:latin typeface="URW Gothic"/>
                <a:ea typeface="URW Gothic"/>
              </a:rPr>
              <a:t>RETRIEVED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1"/>
          <p:cNvSpPr/>
          <p:nvPr/>
        </p:nvSpPr>
        <p:spPr>
          <a:xfrm>
            <a:off x="3520440" y="278892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87.7% HTTP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2"/>
          <p:cNvSpPr/>
          <p:nvPr/>
        </p:nvSpPr>
        <p:spPr>
          <a:xfrm>
            <a:off x="6355080" y="1234440"/>
            <a:ext cx="2742480" cy="2331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3"/>
          <p:cNvSpPr/>
          <p:nvPr/>
        </p:nvSpPr>
        <p:spPr>
          <a:xfrm>
            <a:off x="6355080" y="1234440"/>
            <a:ext cx="2742480" cy="7236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4"/>
          <p:cNvSpPr/>
          <p:nvPr/>
        </p:nvSpPr>
        <p:spPr>
          <a:xfrm>
            <a:off x="6355080" y="1554480"/>
            <a:ext cx="27424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2,291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5"/>
          <p:cNvSpPr/>
          <p:nvPr/>
        </p:nvSpPr>
        <p:spPr>
          <a:xfrm>
            <a:off x="6446520" y="242316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0E7C86"/>
                </a:solidFill>
                <a:effectLst/>
                <a:uFillTx/>
                <a:latin typeface="URW Gothic"/>
                <a:ea typeface="URW Gothic"/>
              </a:rPr>
              <a:t>PLACEHOLDERS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6"/>
          <p:cNvSpPr/>
          <p:nvPr/>
        </p:nvSpPr>
        <p:spPr>
          <a:xfrm>
            <a:off x="6446520" y="278892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&lt; 4 KB, dropped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7"/>
          <p:cNvSpPr/>
          <p:nvPr/>
        </p:nvSpPr>
        <p:spPr>
          <a:xfrm>
            <a:off x="9281160" y="1234440"/>
            <a:ext cx="2742480" cy="2331000"/>
          </a:xfrm>
          <a:prstGeom prst="rect">
            <a:avLst/>
          </a:prstGeom>
          <a:solidFill>
            <a:srgbClr val="1B2A4A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8"/>
          <p:cNvSpPr/>
          <p:nvPr/>
        </p:nvSpPr>
        <p:spPr>
          <a:xfrm>
            <a:off x="9281160" y="1234440"/>
            <a:ext cx="2742480" cy="7236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9"/>
          <p:cNvSpPr/>
          <p:nvPr/>
        </p:nvSpPr>
        <p:spPr>
          <a:xfrm>
            <a:off x="9281160" y="1554480"/>
            <a:ext cx="27424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URW Gothic"/>
                <a:ea typeface="URW Gothic"/>
              </a:rPr>
              <a:t>8,666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0"/>
          <p:cNvSpPr/>
          <p:nvPr/>
        </p:nvSpPr>
        <p:spPr>
          <a:xfrm>
            <a:off x="9372600" y="242316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D4A843"/>
                </a:solidFill>
                <a:effectLst/>
                <a:uFillTx/>
                <a:latin typeface="URW Gothic"/>
                <a:ea typeface="URW Gothic"/>
              </a:rPr>
              <a:t>EMBEDDABLE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1"/>
          <p:cNvSpPr/>
          <p:nvPr/>
        </p:nvSpPr>
        <p:spPr>
          <a:xfrm>
            <a:off x="9372600" y="278892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4DD"/>
                </a:solidFill>
                <a:effectLst/>
                <a:uFillTx/>
                <a:latin typeface="Arial"/>
                <a:ea typeface="Arial"/>
              </a:rPr>
              <a:t>69.3</a:t>
            </a:r>
            <a:r>
              <a:rPr lang="en-US" sz="1300" b="0" u="none" strike="noStrike">
                <a:solidFill>
                  <a:srgbClr val="E8E4DD"/>
                </a:solidFill>
                <a:effectLst/>
                <a:uFillTx/>
                <a:latin typeface="Arial"/>
                <a:ea typeface="Arial"/>
              </a:rPr>
              <a:t>% of </a:t>
            </a:r>
            <a:r>
              <a:rPr lang="en-US" sz="1300" b="0" u="none" strike="noStrike">
                <a:solidFill>
                  <a:srgbClr val="E8E4DD"/>
                </a:solidFill>
                <a:effectLst/>
                <a:uFillTx/>
                <a:latin typeface="Arial"/>
                <a:ea typeface="Arial"/>
              </a:rPr>
              <a:t>sampl</a:t>
            </a:r>
            <a:r>
              <a:rPr lang="en-US" sz="1300" b="0" u="none" strike="noStrike">
                <a:solidFill>
                  <a:srgbClr val="E8E4DD"/>
                </a:solidFill>
                <a:effectLst/>
                <a:uFillTx/>
                <a:latin typeface="Arial"/>
                <a:ea typeface="Arial"/>
              </a:rPr>
              <a:t>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2"/>
          <p:cNvSpPr/>
          <p:nvPr/>
        </p:nvSpPr>
        <p:spPr>
          <a:xfrm>
            <a:off x="502920" y="3794760"/>
            <a:ext cx="11154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Valid thumbnails by year  (share of that year’s 2,500)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3"/>
          <p:cNvSpPr/>
          <p:nvPr/>
        </p:nvSpPr>
        <p:spPr>
          <a:xfrm>
            <a:off x="502920" y="4114800"/>
            <a:ext cx="776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2020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4"/>
          <p:cNvSpPr/>
          <p:nvPr/>
        </p:nvSpPr>
        <p:spPr>
          <a:xfrm>
            <a:off x="1371600" y="4206240"/>
            <a:ext cx="7497360" cy="200520"/>
          </a:xfrm>
          <a:prstGeom prst="rect">
            <a:avLst/>
          </a:prstGeom>
          <a:solidFill>
            <a:srgbClr val="E4EE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25"/>
          <p:cNvSpPr/>
          <p:nvPr/>
        </p:nvSpPr>
        <p:spPr>
          <a:xfrm>
            <a:off x="1371600" y="4206240"/>
            <a:ext cx="4917960" cy="20052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6"/>
          <p:cNvSpPr/>
          <p:nvPr/>
        </p:nvSpPr>
        <p:spPr>
          <a:xfrm>
            <a:off x="9006840" y="4114800"/>
            <a:ext cx="2651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1,639   65.6%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7"/>
          <p:cNvSpPr/>
          <p:nvPr/>
        </p:nvSpPr>
        <p:spPr>
          <a:xfrm>
            <a:off x="502920" y="4553640"/>
            <a:ext cx="776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2021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28"/>
          <p:cNvSpPr/>
          <p:nvPr/>
        </p:nvSpPr>
        <p:spPr>
          <a:xfrm>
            <a:off x="1371600" y="4645080"/>
            <a:ext cx="7497360" cy="200520"/>
          </a:xfrm>
          <a:prstGeom prst="rect">
            <a:avLst/>
          </a:prstGeom>
          <a:solidFill>
            <a:srgbClr val="E4EE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29"/>
          <p:cNvSpPr/>
          <p:nvPr/>
        </p:nvSpPr>
        <p:spPr>
          <a:xfrm>
            <a:off x="1371600" y="4645080"/>
            <a:ext cx="4962960" cy="20052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0"/>
          <p:cNvSpPr/>
          <p:nvPr/>
        </p:nvSpPr>
        <p:spPr>
          <a:xfrm>
            <a:off x="9006840" y="4553640"/>
            <a:ext cx="2651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1,655   66.2%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1"/>
          <p:cNvSpPr/>
          <p:nvPr/>
        </p:nvSpPr>
        <p:spPr>
          <a:xfrm>
            <a:off x="502920" y="4992480"/>
            <a:ext cx="776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2022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32"/>
          <p:cNvSpPr/>
          <p:nvPr/>
        </p:nvSpPr>
        <p:spPr>
          <a:xfrm>
            <a:off x="1371600" y="5083920"/>
            <a:ext cx="7497360" cy="200520"/>
          </a:xfrm>
          <a:prstGeom prst="rect">
            <a:avLst/>
          </a:prstGeom>
          <a:solidFill>
            <a:srgbClr val="E4EE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33"/>
          <p:cNvSpPr/>
          <p:nvPr/>
        </p:nvSpPr>
        <p:spPr>
          <a:xfrm>
            <a:off x="1371600" y="5083920"/>
            <a:ext cx="4978080" cy="20052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34"/>
          <p:cNvSpPr/>
          <p:nvPr/>
        </p:nvSpPr>
        <p:spPr>
          <a:xfrm>
            <a:off x="9006840" y="4992480"/>
            <a:ext cx="2651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1,660   66.4%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5"/>
          <p:cNvSpPr/>
          <p:nvPr/>
        </p:nvSpPr>
        <p:spPr>
          <a:xfrm>
            <a:off x="502920" y="5431680"/>
            <a:ext cx="776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2023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36"/>
          <p:cNvSpPr/>
          <p:nvPr/>
        </p:nvSpPr>
        <p:spPr>
          <a:xfrm>
            <a:off x="1371600" y="5523120"/>
            <a:ext cx="7497360" cy="200520"/>
          </a:xfrm>
          <a:prstGeom prst="rect">
            <a:avLst/>
          </a:prstGeom>
          <a:solidFill>
            <a:srgbClr val="E4EE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37"/>
          <p:cNvSpPr/>
          <p:nvPr/>
        </p:nvSpPr>
        <p:spPr>
          <a:xfrm>
            <a:off x="1371600" y="5523120"/>
            <a:ext cx="5203080" cy="20052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8"/>
          <p:cNvSpPr/>
          <p:nvPr/>
        </p:nvSpPr>
        <p:spPr>
          <a:xfrm>
            <a:off x="9006840" y="5431680"/>
            <a:ext cx="2651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1,734   69.4%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39"/>
          <p:cNvSpPr/>
          <p:nvPr/>
        </p:nvSpPr>
        <p:spPr>
          <a:xfrm>
            <a:off x="502920" y="5870520"/>
            <a:ext cx="776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2024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40"/>
          <p:cNvSpPr/>
          <p:nvPr/>
        </p:nvSpPr>
        <p:spPr>
          <a:xfrm>
            <a:off x="1371600" y="5961960"/>
            <a:ext cx="7497360" cy="200520"/>
          </a:xfrm>
          <a:prstGeom prst="rect">
            <a:avLst/>
          </a:prstGeom>
          <a:solidFill>
            <a:srgbClr val="E4EE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41"/>
          <p:cNvSpPr/>
          <p:nvPr/>
        </p:nvSpPr>
        <p:spPr>
          <a:xfrm>
            <a:off x="1371600" y="5961960"/>
            <a:ext cx="5930280" cy="20052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42"/>
          <p:cNvSpPr/>
          <p:nvPr/>
        </p:nvSpPr>
        <p:spPr>
          <a:xfrm>
            <a:off x="9006840" y="5870520"/>
            <a:ext cx="2651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1,978   79.1%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43"/>
          <p:cNvSpPr/>
          <p:nvPr/>
        </p:nvSpPr>
        <p:spPr>
          <a:xfrm>
            <a:off x="502920" y="6565320"/>
            <a:ext cx="91432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DINOv3  ·  thumbnail corpus  ·  2020–2024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44"/>
          <p:cNvSpPr/>
          <p:nvPr/>
        </p:nvSpPr>
        <p:spPr>
          <a:xfrm>
            <a:off x="11338560" y="6565320"/>
            <a:ext cx="456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24"/>
          <p:cNvSpPr/>
          <p:nvPr/>
        </p:nvSpPr>
        <p:spPr>
          <a:xfrm>
            <a:off x="502920" y="164520"/>
            <a:ext cx="11155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WHOLE THUMBNAIL </a:t>
            </a:r>
            <a:r>
              <a:rPr lang="en-US" sz="22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vs LOCAL PATCH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5"/>
          <p:cNvSpPr/>
          <p:nvPr/>
        </p:nvSpPr>
        <p:spPr>
          <a:xfrm>
            <a:off x="502920" y="530280"/>
            <a:ext cx="11155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Same two steps on both </a:t>
            </a:r>
            <a:r>
              <a:rPr lang="en-US" sz="1400" b="0" i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tracks: extract embeddings, </a:t>
            </a:r>
            <a:r>
              <a:rPr lang="en-US" sz="1400" b="0" i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then cluster. Shared </a:t>
            </a:r>
            <a:r>
              <a:rPr lang="en-US" sz="1400" b="0" i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preprocess; the unit of </a:t>
            </a:r>
            <a:r>
              <a:rPr lang="en-US" sz="1400" b="0" i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analysis differs.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9"/>
          <p:cNvSpPr/>
          <p:nvPr/>
        </p:nvSpPr>
        <p:spPr>
          <a:xfrm>
            <a:off x="411480" y="960120"/>
            <a:ext cx="3245760" cy="5257440"/>
          </a:xfrm>
          <a:prstGeom prst="rect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40"/>
          <p:cNvSpPr/>
          <p:nvPr/>
        </p:nvSpPr>
        <p:spPr>
          <a:xfrm>
            <a:off x="640080" y="1097280"/>
            <a:ext cx="2834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150" strike="noStrike">
                <a:solidFill>
                  <a:srgbClr val="D4A843"/>
                </a:solidFill>
                <a:effectLst/>
                <a:uFillTx/>
                <a:latin typeface="URW Gothic"/>
                <a:ea typeface="URW Gothic"/>
              </a:rPr>
              <a:t>SHARED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81"/>
          <p:cNvSpPr/>
          <p:nvPr/>
        </p:nvSpPr>
        <p:spPr>
          <a:xfrm>
            <a:off x="640080" y="1353240"/>
            <a:ext cx="2834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URW Gothic"/>
                <a:ea typeface="URW Gothic"/>
              </a:rPr>
              <a:t>Preprocess once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5"/>
          <p:cNvSpPr/>
          <p:nvPr/>
        </p:nvSpPr>
        <p:spPr>
          <a:xfrm>
            <a:off x="868680" y="1874520"/>
            <a:ext cx="2331360" cy="2331360"/>
          </a:xfrm>
          <a:prstGeom prst="rect">
            <a:avLst/>
          </a:prstGeom>
          <a:solidFill>
            <a:srgbClr val="0A14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22"/>
          <p:cNvSpPr/>
          <p:nvPr/>
        </p:nvSpPr>
        <p:spPr>
          <a:xfrm>
            <a:off x="868680" y="2384640"/>
            <a:ext cx="2331360" cy="1311120"/>
          </a:xfrm>
          <a:prstGeom prst="rect">
            <a:avLst/>
          </a:prstGeom>
          <a:solidFill>
            <a:srgbClr val="2A4A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82"/>
          <p:cNvSpPr/>
          <p:nvPr/>
        </p:nvSpPr>
        <p:spPr>
          <a:xfrm>
            <a:off x="868680" y="1911240"/>
            <a:ext cx="233136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4A843"/>
                </a:solidFill>
                <a:effectLst/>
                <a:uFillTx/>
                <a:latin typeface="Arial"/>
                <a:ea typeface="Arial"/>
              </a:rPr>
              <a:t>black pad  ·  masked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83"/>
          <p:cNvSpPr/>
          <p:nvPr/>
        </p:nvSpPr>
        <p:spPr>
          <a:xfrm>
            <a:off x="868680" y="2384640"/>
            <a:ext cx="2331360" cy="13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640 × 360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kept, not stretched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84"/>
          <p:cNvSpPr/>
          <p:nvPr/>
        </p:nvSpPr>
        <p:spPr>
          <a:xfrm>
            <a:off x="868680" y="3714480"/>
            <a:ext cx="233136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4A843"/>
                </a:solidFill>
                <a:effectLst/>
                <a:uFillTx/>
                <a:latin typeface="Arial"/>
                <a:ea typeface="Arial"/>
              </a:rPr>
              <a:t>black pad  ·  masked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85"/>
          <p:cNvSpPr/>
          <p:nvPr/>
        </p:nvSpPr>
        <p:spPr>
          <a:xfrm>
            <a:off x="640080" y="4389120"/>
            <a:ext cx="28342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E4DD"/>
                </a:solidFill>
                <a:effectLst/>
                <a:uFillTx/>
                <a:latin typeface="Arial"/>
                <a:ea typeface="Arial"/>
              </a:rPr>
              <a:t>Filter ≥ 4 KB, 640×360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E4DD"/>
                </a:solidFill>
                <a:effectLst/>
                <a:uFillTx/>
                <a:latin typeface="Arial"/>
                <a:ea typeface="Arial"/>
              </a:rPr>
              <a:t>RGB  ·  letterbox to square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E4DD"/>
                </a:solidFill>
                <a:effectLst/>
                <a:uFillTx/>
                <a:latin typeface="Arial"/>
                <a:ea typeface="Arial"/>
              </a:rPr>
              <a:t>resize to 224 px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86"/>
          <p:cNvSpPr/>
          <p:nvPr/>
        </p:nvSpPr>
        <p:spPr>
          <a:xfrm>
            <a:off x="640080" y="562356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D4A843"/>
                </a:solidFill>
                <a:effectLst/>
                <a:uFillTx/>
                <a:latin typeface="Arial"/>
                <a:ea typeface="Arial"/>
              </a:rPr>
              <a:t>Then the tracks split →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27"/>
          <p:cNvSpPr/>
          <p:nvPr/>
        </p:nvSpPr>
        <p:spPr>
          <a:xfrm>
            <a:off x="3840480" y="960120"/>
            <a:ext cx="4023000" cy="5257440"/>
          </a:xfrm>
          <a:prstGeom prst="rect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30"/>
          <p:cNvSpPr/>
          <p:nvPr/>
        </p:nvSpPr>
        <p:spPr>
          <a:xfrm>
            <a:off x="3840480" y="960120"/>
            <a:ext cx="91080" cy="525744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87"/>
          <p:cNvSpPr/>
          <p:nvPr/>
        </p:nvSpPr>
        <p:spPr>
          <a:xfrm>
            <a:off x="4114800" y="1097280"/>
            <a:ext cx="3565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150" strike="noStrike">
                <a:solidFill>
                  <a:srgbClr val="D4A843"/>
                </a:solidFill>
                <a:effectLst/>
                <a:uFillTx/>
                <a:latin typeface="URW Gothic"/>
                <a:ea typeface="URW Gothic"/>
              </a:rPr>
              <a:t>CLS TRACK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88"/>
          <p:cNvSpPr/>
          <p:nvPr/>
        </p:nvSpPr>
        <p:spPr>
          <a:xfrm>
            <a:off x="4114800" y="1371600"/>
            <a:ext cx="3565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URW Gothic"/>
                <a:ea typeface="URW Gothic"/>
              </a:rPr>
              <a:t>One vector for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URW Gothic"/>
                <a:ea typeface="URW Gothic"/>
              </a:rPr>
              <a:t>the whole image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89"/>
          <p:cNvSpPr/>
          <p:nvPr/>
        </p:nvSpPr>
        <p:spPr>
          <a:xfrm>
            <a:off x="4114800" y="219456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79" strike="noStrike">
                <a:solidFill>
                  <a:srgbClr val="D4A843"/>
                </a:solidFill>
                <a:effectLst/>
                <a:uFillTx/>
                <a:latin typeface="URW Gothic"/>
                <a:ea typeface="URW Gothic"/>
              </a:rPr>
              <a:t>UNIT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90"/>
          <p:cNvSpPr/>
          <p:nvPr/>
        </p:nvSpPr>
        <p:spPr>
          <a:xfrm>
            <a:off x="4114800" y="239580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Entire thumbnail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91"/>
          <p:cNvSpPr/>
          <p:nvPr/>
        </p:nvSpPr>
        <p:spPr>
          <a:xfrm>
            <a:off x="4114800" y="285300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79" strike="noStrike">
                <a:solidFill>
                  <a:srgbClr val="D4A843"/>
                </a:solidFill>
                <a:effectLst/>
                <a:uFillTx/>
                <a:latin typeface="URW Gothic"/>
                <a:ea typeface="URW Gothic"/>
              </a:rPr>
              <a:t>EXTRACT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92"/>
          <p:cNvSpPr/>
          <p:nvPr/>
        </p:nvSpPr>
        <p:spPr>
          <a:xfrm>
            <a:off x="4114800" y="305424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 × 1024-d CLS 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token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93"/>
          <p:cNvSpPr/>
          <p:nvPr/>
        </p:nvSpPr>
        <p:spPr>
          <a:xfrm>
            <a:off x="4114800" y="351144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79" strike="noStrike">
                <a:solidFill>
                  <a:srgbClr val="D4A843"/>
                </a:solidFill>
                <a:effectLst/>
                <a:uFillTx/>
                <a:latin typeface="URW Gothic"/>
                <a:ea typeface="URW Gothic"/>
              </a:rPr>
              <a:t>CLU</a:t>
            </a:r>
            <a:r>
              <a:rPr lang="en-US" sz="1100" b="0" u="none" spc="79" strike="noStrike">
                <a:solidFill>
                  <a:srgbClr val="D4A843"/>
                </a:solidFill>
                <a:effectLst/>
                <a:uFillTx/>
                <a:latin typeface="URW Gothic"/>
                <a:ea typeface="URW Gothic"/>
              </a:rPr>
              <a:t>STER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94"/>
          <p:cNvSpPr/>
          <p:nvPr/>
        </p:nvSpPr>
        <p:spPr>
          <a:xfrm>
            <a:off x="4114800" y="397800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HDBSCAN  +  k-means K=40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8,666 vectors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95"/>
          <p:cNvSpPr/>
          <p:nvPr/>
        </p:nvSpPr>
        <p:spPr>
          <a:xfrm>
            <a:off x="4114800" y="480060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79" strike="noStrike">
                <a:solidFill>
                  <a:srgbClr val="D4A843"/>
                </a:solidFill>
                <a:effectLst/>
                <a:uFillTx/>
                <a:latin typeface="URW Gothic"/>
                <a:ea typeface="URW Gothic"/>
              </a:rPr>
              <a:t>ASKS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96"/>
          <p:cNvSpPr/>
          <p:nvPr/>
        </p:nvSpPr>
        <p:spPr>
          <a:xfrm>
            <a:off x="4114800" y="5010840"/>
            <a:ext cx="3565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E8E4DD"/>
                </a:solidFill>
                <a:effectLst/>
                <a:uFillTx/>
                <a:latin typeface="Arial"/>
                <a:ea typeface="Arial"/>
              </a:rPr>
              <a:t>What kinds of </a:t>
            </a:r>
            <a:r>
              <a:rPr lang="en-US" sz="1500" b="0" i="1" u="none" strike="noStrike">
                <a:solidFill>
                  <a:srgbClr val="E8E4DD"/>
                </a:solidFill>
                <a:effectLst/>
                <a:uFillTx/>
                <a:latin typeface="Arial"/>
                <a:ea typeface="Arial"/>
              </a:rPr>
              <a:t>thumbnails are in the </a:t>
            </a:r>
            <a:r>
              <a:rPr lang="en-US" sz="1500" b="0" i="1" u="none" strike="noStrike">
                <a:solidFill>
                  <a:srgbClr val="E8E4DD"/>
                </a:solidFill>
                <a:effectLst/>
                <a:uFillTx/>
                <a:latin typeface="Arial"/>
                <a:ea typeface="Arial"/>
              </a:rPr>
              <a:t>corpus?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31"/>
          <p:cNvSpPr/>
          <p:nvPr/>
        </p:nvSpPr>
        <p:spPr>
          <a:xfrm>
            <a:off x="8046720" y="960120"/>
            <a:ext cx="4023000" cy="5257440"/>
          </a:xfrm>
          <a:prstGeom prst="rect">
            <a:avLst/>
          </a:prstGeom>
          <a:solidFill>
            <a:srgbClr val="1623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34"/>
          <p:cNvSpPr/>
          <p:nvPr/>
        </p:nvSpPr>
        <p:spPr>
          <a:xfrm>
            <a:off x="8046720" y="960120"/>
            <a:ext cx="91080" cy="525744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97"/>
          <p:cNvSpPr/>
          <p:nvPr/>
        </p:nvSpPr>
        <p:spPr>
          <a:xfrm>
            <a:off x="8321040" y="1097280"/>
            <a:ext cx="3565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150" strike="noStrike">
                <a:solidFill>
                  <a:srgbClr val="0E7C86"/>
                </a:solidFill>
                <a:effectLst/>
                <a:uFillTx/>
                <a:latin typeface="URW Gothic"/>
                <a:ea typeface="URW Gothic"/>
              </a:rPr>
              <a:t>PATCH TRACK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98"/>
          <p:cNvSpPr/>
          <p:nvPr/>
        </p:nvSpPr>
        <p:spPr>
          <a:xfrm>
            <a:off x="8321040" y="1371600"/>
            <a:ext cx="3565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URW Gothic"/>
                <a:ea typeface="URW Gothic"/>
              </a:rPr>
              <a:t>One vector per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URW Gothic"/>
                <a:ea typeface="URW Gothic"/>
              </a:rPr>
              <a:t>16×16 cell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99"/>
          <p:cNvSpPr/>
          <p:nvPr/>
        </p:nvSpPr>
        <p:spPr>
          <a:xfrm>
            <a:off x="8321040" y="219456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79" strike="noStrike">
                <a:solidFill>
                  <a:srgbClr val="0E7C86"/>
                </a:solidFill>
                <a:effectLst/>
                <a:uFillTx/>
                <a:latin typeface="URW Gothic"/>
                <a:ea typeface="URW Gothic"/>
              </a:rPr>
              <a:t>UNIT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00"/>
          <p:cNvSpPr/>
          <p:nvPr/>
        </p:nvSpPr>
        <p:spPr>
          <a:xfrm>
            <a:off x="8321040" y="239580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Loc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al 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16×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16 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ViT 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pat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01"/>
          <p:cNvSpPr/>
          <p:nvPr/>
        </p:nvSpPr>
        <p:spPr>
          <a:xfrm>
            <a:off x="8321040" y="285300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79" strike="noStrike">
                <a:solidFill>
                  <a:srgbClr val="0E7C86"/>
                </a:solidFill>
                <a:effectLst/>
                <a:uFillTx/>
                <a:latin typeface="URW Gothic"/>
                <a:ea typeface="URW Gothic"/>
              </a:rPr>
              <a:t>EXTRACT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02"/>
          <p:cNvSpPr/>
          <p:nvPr/>
        </p:nvSpPr>
        <p:spPr>
          <a:xfrm>
            <a:off x="8321040" y="305424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112 patches / image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03"/>
          <p:cNvSpPr/>
          <p:nvPr/>
        </p:nvSpPr>
        <p:spPr>
          <a:xfrm>
            <a:off x="8321040" y="351144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79" strike="noStrike">
                <a:solidFill>
                  <a:srgbClr val="0E7C86"/>
                </a:solidFill>
                <a:effectLst/>
                <a:uFillTx/>
                <a:latin typeface="URW Gothic"/>
                <a:ea typeface="URW Gothic"/>
              </a:rPr>
              <a:t>CLUSTER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04"/>
          <p:cNvSpPr/>
          <p:nvPr/>
        </p:nvSpPr>
        <p:spPr>
          <a:xfrm>
            <a:off x="8229600" y="397800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HDBSCAN only  (min size 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30)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8.666 x 112 = 970,592 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vectors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05"/>
          <p:cNvSpPr/>
          <p:nvPr/>
        </p:nvSpPr>
        <p:spPr>
          <a:xfrm>
            <a:off x="8321040" y="480060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79" strike="noStrike">
                <a:solidFill>
                  <a:srgbClr val="0E7C86"/>
                </a:solidFill>
                <a:effectLst/>
                <a:uFillTx/>
                <a:latin typeface="URW Gothic"/>
                <a:ea typeface="URW Gothic"/>
              </a:rPr>
              <a:t>ASKS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06"/>
          <p:cNvSpPr/>
          <p:nvPr/>
        </p:nvSpPr>
        <p:spPr>
          <a:xfrm>
            <a:off x="8321040" y="5010840"/>
            <a:ext cx="3565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E8E4DD"/>
                </a:solidFill>
                <a:effectLst/>
                <a:uFillTx/>
                <a:latin typeface="Arial"/>
                <a:ea typeface="Arial"/>
              </a:rPr>
              <a:t>Which local parts of the frame recur?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07"/>
          <p:cNvSpPr/>
          <p:nvPr/>
        </p:nvSpPr>
        <p:spPr>
          <a:xfrm>
            <a:off x="502920" y="6565320"/>
            <a:ext cx="9144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DINOv3  ·  thumbnail corpus  ·  2020–2024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08"/>
          <p:cNvSpPr/>
          <p:nvPr/>
        </p:nvSpPr>
        <p:spPr>
          <a:xfrm>
            <a:off x="11338560" y="6565320"/>
            <a:ext cx="456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 0"/>
          <p:cNvSpPr/>
          <p:nvPr/>
        </p:nvSpPr>
        <p:spPr>
          <a:xfrm>
            <a:off x="502920" y="255960"/>
            <a:ext cx="11154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PRODUCTION </a:t>
            </a:r>
            <a:r>
              <a:rPr lang="en-US" sz="22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RUN: VIT-L/16 </a:t>
            </a:r>
            <a:r>
              <a:rPr lang="en-US" sz="22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ON THE FULL </a:t>
            </a:r>
            <a:r>
              <a:rPr lang="en-US" sz="22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CORPUS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"/>
          <p:cNvSpPr/>
          <p:nvPr/>
        </p:nvSpPr>
        <p:spPr>
          <a:xfrm>
            <a:off x="502920" y="713160"/>
            <a:ext cx="11154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facebook/dinov3-vitl16-pretrain-lvd1689m  ·  ~300M params  ·  1024-d  ·  CUDA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2"/>
          <p:cNvSpPr/>
          <p:nvPr/>
        </p:nvSpPr>
        <p:spPr>
          <a:xfrm>
            <a:off x="502920" y="1188720"/>
            <a:ext cx="3656880" cy="32454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3"/>
          <p:cNvSpPr/>
          <p:nvPr/>
        </p:nvSpPr>
        <p:spPr>
          <a:xfrm>
            <a:off x="502920" y="1188720"/>
            <a:ext cx="3656880" cy="9072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4"/>
          <p:cNvSpPr/>
          <p:nvPr/>
        </p:nvSpPr>
        <p:spPr>
          <a:xfrm>
            <a:off x="731520" y="1463040"/>
            <a:ext cx="3199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pc="99" strike="noStrike">
                <a:solidFill>
                  <a:srgbClr val="0E7C86"/>
                </a:solidFill>
                <a:effectLst/>
                <a:uFillTx/>
                <a:latin typeface="URW Gothic"/>
                <a:ea typeface="URW Gothic"/>
              </a:rPr>
              <a:t>CLS </a:t>
            </a:r>
            <a:r>
              <a:rPr lang="en-US" sz="1200" b="0" u="none" spc="99" strike="noStrike">
                <a:solidFill>
                  <a:srgbClr val="0E7C86"/>
                </a:solidFill>
                <a:effectLst/>
                <a:uFillTx/>
                <a:latin typeface="URW Gothic"/>
                <a:ea typeface="URW Gothic"/>
              </a:rPr>
              <a:t>EMB</a:t>
            </a:r>
            <a:r>
              <a:rPr lang="en-US" sz="1200" b="0" u="none" spc="99" strike="noStrike">
                <a:solidFill>
                  <a:srgbClr val="0E7C86"/>
                </a:solidFill>
                <a:effectLst/>
                <a:uFillTx/>
                <a:latin typeface="URW Gothic"/>
                <a:ea typeface="URW Gothic"/>
              </a:rPr>
              <a:t>EDD</a:t>
            </a:r>
            <a:r>
              <a:rPr lang="en-US" sz="1200" b="0" u="none" spc="99" strike="noStrike">
                <a:solidFill>
                  <a:srgbClr val="0E7C86"/>
                </a:solidFill>
                <a:effectLst/>
                <a:uFillTx/>
                <a:latin typeface="URW Gothic"/>
                <a:ea typeface="URW Gothic"/>
              </a:rPr>
              <a:t>ING</a:t>
            </a:r>
            <a:r>
              <a:rPr lang="en-US" sz="1200" b="0" u="none" spc="99" strike="noStrike">
                <a:solidFill>
                  <a:srgbClr val="0E7C86"/>
                </a:solidFill>
                <a:effectLst/>
                <a:uFillTx/>
                <a:latin typeface="URW Gothic"/>
                <a:ea typeface="URW Gothic"/>
              </a:rPr>
              <a:t>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5"/>
          <p:cNvSpPr/>
          <p:nvPr/>
        </p:nvSpPr>
        <p:spPr>
          <a:xfrm>
            <a:off x="731520" y="1874520"/>
            <a:ext cx="31996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8,</a:t>
            </a:r>
            <a:r>
              <a:rPr lang="en-US" sz="26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6</a:t>
            </a:r>
            <a:r>
              <a:rPr lang="en-US" sz="26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6</a:t>
            </a:r>
            <a:r>
              <a:rPr lang="en-US" sz="26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6 </a:t>
            </a:r>
            <a:r>
              <a:rPr lang="en-US" sz="26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× </a:t>
            </a:r>
            <a:r>
              <a:rPr lang="en-US" sz="26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1</a:t>
            </a:r>
            <a:r>
              <a:rPr lang="en-US" sz="26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0</a:t>
            </a:r>
            <a:r>
              <a:rPr lang="en-US" sz="26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2</a:t>
            </a:r>
            <a:r>
              <a:rPr lang="en-US" sz="26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4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6"/>
          <p:cNvSpPr/>
          <p:nvPr/>
        </p:nvSpPr>
        <p:spPr>
          <a:xfrm>
            <a:off x="731520" y="2788920"/>
            <a:ext cx="319968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Run </a:t>
            </a:r>
            <a:r>
              <a:rPr lang="en-US" sz="15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20260713T131720Z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Load 1.2 s  ·  </a:t>
            </a:r>
            <a:r>
              <a:rPr lang="en-US" sz="15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inference 5 m 1 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0.035 s / image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7"/>
          <p:cNvSpPr/>
          <p:nvPr/>
        </p:nvSpPr>
        <p:spPr>
          <a:xfrm>
            <a:off x="4343400" y="1188720"/>
            <a:ext cx="3656880" cy="32454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8"/>
          <p:cNvSpPr/>
          <p:nvPr/>
        </p:nvSpPr>
        <p:spPr>
          <a:xfrm>
            <a:off x="4343400" y="1188720"/>
            <a:ext cx="3656880" cy="9072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9"/>
          <p:cNvSpPr/>
          <p:nvPr/>
        </p:nvSpPr>
        <p:spPr>
          <a:xfrm>
            <a:off x="4572000" y="1463040"/>
            <a:ext cx="3199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pc="99" strike="noStrike">
                <a:solidFill>
                  <a:srgbClr val="0E7C86"/>
                </a:solidFill>
                <a:effectLst/>
                <a:uFillTx/>
                <a:latin typeface="URW Gothic"/>
                <a:ea typeface="URW Gothic"/>
              </a:rPr>
              <a:t>PATCH EMBEDDINGS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0"/>
          <p:cNvSpPr/>
          <p:nvPr/>
        </p:nvSpPr>
        <p:spPr>
          <a:xfrm>
            <a:off x="4572000" y="1874520"/>
            <a:ext cx="31996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9</a:t>
            </a:r>
            <a:r>
              <a:rPr lang="en-US" sz="26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7</a:t>
            </a:r>
            <a:r>
              <a:rPr lang="en-US" sz="26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0,</a:t>
            </a:r>
            <a:r>
              <a:rPr lang="en-US" sz="26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5</a:t>
            </a:r>
            <a:r>
              <a:rPr lang="en-US" sz="26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9</a:t>
            </a:r>
            <a:r>
              <a:rPr lang="en-US" sz="26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2 </a:t>
            </a:r>
            <a:r>
              <a:rPr lang="en-US" sz="26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to</a:t>
            </a:r>
            <a:r>
              <a:rPr lang="en-US" sz="26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k</a:t>
            </a:r>
            <a:r>
              <a:rPr lang="en-US" sz="26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e</a:t>
            </a:r>
            <a:r>
              <a:rPr lang="en-US" sz="26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ns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1"/>
          <p:cNvSpPr/>
          <p:nvPr/>
        </p:nvSpPr>
        <p:spPr>
          <a:xfrm>
            <a:off x="4572000" y="2788920"/>
            <a:ext cx="319968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Ru</a:t>
            </a:r>
            <a:r>
              <a:rPr lang="en-US" sz="15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n </a:t>
            </a:r>
            <a:r>
              <a:rPr lang="en-US" sz="15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202</a:t>
            </a:r>
            <a:r>
              <a:rPr lang="en-US" sz="15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607</a:t>
            </a:r>
            <a:r>
              <a:rPr lang="en-US" sz="15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14T</a:t>
            </a:r>
            <a:r>
              <a:rPr lang="en-US" sz="15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101</a:t>
            </a:r>
            <a:r>
              <a:rPr lang="en-US" sz="15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958</a:t>
            </a:r>
            <a:r>
              <a:rPr lang="en-US" sz="15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Z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112 </a:t>
            </a:r>
            <a:r>
              <a:rPr lang="en-US" sz="15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tok</a:t>
            </a:r>
            <a:r>
              <a:rPr lang="en-US" sz="15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ens </a:t>
            </a:r>
            <a:r>
              <a:rPr lang="en-US" sz="15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/ </a:t>
            </a:r>
            <a:r>
              <a:rPr lang="en-US" sz="15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ima</a:t>
            </a:r>
            <a:r>
              <a:rPr lang="en-US" sz="15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ge </a:t>
            </a:r>
            <a:r>
              <a:rPr lang="en-US" sz="15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(pa</a:t>
            </a:r>
            <a:r>
              <a:rPr lang="en-US" sz="15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d-</a:t>
            </a:r>
            <a:r>
              <a:rPr lang="en-US" sz="15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ma</a:t>
            </a:r>
            <a:r>
              <a:rPr lang="en-US" sz="15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ske</a:t>
            </a:r>
            <a:r>
              <a:rPr lang="en-US" sz="15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d)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0.0</a:t>
            </a:r>
            <a:r>
              <a:rPr lang="en-US" sz="15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48 </a:t>
            </a:r>
            <a:r>
              <a:rPr lang="en-US" sz="15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s / </a:t>
            </a:r>
            <a:r>
              <a:rPr lang="en-US" sz="15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ima</a:t>
            </a:r>
            <a:r>
              <a:rPr lang="en-US" sz="15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ge  </a:t>
            </a:r>
            <a:r>
              <a:rPr lang="en-US" sz="15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·  6 </a:t>
            </a:r>
            <a:r>
              <a:rPr lang="en-US" sz="15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m </a:t>
            </a:r>
            <a:r>
              <a:rPr lang="en-US" sz="15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55 </a:t>
            </a:r>
            <a:r>
              <a:rPr lang="en-US" sz="15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2"/>
          <p:cNvSpPr/>
          <p:nvPr/>
        </p:nvSpPr>
        <p:spPr>
          <a:xfrm>
            <a:off x="8183880" y="1188720"/>
            <a:ext cx="3656880" cy="32454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3"/>
          <p:cNvSpPr/>
          <p:nvPr/>
        </p:nvSpPr>
        <p:spPr>
          <a:xfrm>
            <a:off x="8183880" y="1188720"/>
            <a:ext cx="3656880" cy="9072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4"/>
          <p:cNvSpPr/>
          <p:nvPr/>
        </p:nvSpPr>
        <p:spPr>
          <a:xfrm>
            <a:off x="8412480" y="1463040"/>
            <a:ext cx="3199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pc="99" strike="noStrike">
                <a:solidFill>
                  <a:srgbClr val="0E7C86"/>
                </a:solidFill>
                <a:effectLst/>
                <a:uFillTx/>
                <a:latin typeface="URW Gothic"/>
                <a:ea typeface="URW Gothic"/>
              </a:rPr>
              <a:t>SANITY CHECKS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5"/>
          <p:cNvSpPr/>
          <p:nvPr/>
        </p:nvSpPr>
        <p:spPr>
          <a:xfrm>
            <a:off x="8412480" y="1874520"/>
            <a:ext cx="31996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Finite, </a:t>
            </a:r>
            <a:r>
              <a:rPr lang="en-US" sz="26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matched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6"/>
          <p:cNvSpPr/>
          <p:nvPr/>
        </p:nvSpPr>
        <p:spPr>
          <a:xfrm>
            <a:off x="8412480" y="2788920"/>
            <a:ext cx="319968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Shape, ID list, no NaN/Inf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Random cosine similarities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check_cls / check_patch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7"/>
          <p:cNvSpPr/>
          <p:nvPr/>
        </p:nvSpPr>
        <p:spPr>
          <a:xfrm>
            <a:off x="502920" y="4663440"/>
            <a:ext cx="11200680" cy="1553760"/>
          </a:xfrm>
          <a:prstGeom prst="rect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8"/>
          <p:cNvSpPr/>
          <p:nvPr/>
        </p:nvSpPr>
        <p:spPr>
          <a:xfrm>
            <a:off x="777240" y="4800600"/>
            <a:ext cx="10606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D4A843"/>
                </a:solidFill>
                <a:effectLst/>
                <a:uFillTx/>
                <a:latin typeface="URW Gothic"/>
                <a:ea typeface="URW Gothic"/>
              </a:rPr>
              <a:t>Pat</a:t>
            </a:r>
            <a:r>
              <a:rPr lang="en-US" sz="1600" b="1" u="none" strike="noStrike">
                <a:solidFill>
                  <a:srgbClr val="D4A843"/>
                </a:solidFill>
                <a:effectLst/>
                <a:uFillTx/>
                <a:latin typeface="URW Gothic"/>
                <a:ea typeface="URW Gothic"/>
              </a:rPr>
              <a:t>hs </a:t>
            </a:r>
            <a:r>
              <a:rPr lang="en-US" sz="1600" b="1" u="none" strike="noStrike">
                <a:solidFill>
                  <a:srgbClr val="D4A843"/>
                </a:solidFill>
                <a:effectLst/>
                <a:uFillTx/>
                <a:latin typeface="URW Gothic"/>
                <a:ea typeface="URW Gothic"/>
              </a:rPr>
              <a:t>ma</a:t>
            </a:r>
            <a:r>
              <a:rPr lang="en-US" sz="1600" b="1" u="none" strike="noStrike">
                <a:solidFill>
                  <a:srgbClr val="D4A843"/>
                </a:solidFill>
                <a:effectLst/>
                <a:uFillTx/>
                <a:latin typeface="URW Gothic"/>
                <a:ea typeface="URW Gothic"/>
              </a:rPr>
              <a:t>tch </a:t>
            </a:r>
            <a:r>
              <a:rPr lang="en-US" sz="1600" b="1" u="none" strike="noStrike">
                <a:solidFill>
                  <a:srgbClr val="D4A843"/>
                </a:solidFill>
                <a:effectLst/>
                <a:uFillTx/>
                <a:latin typeface="URW Gothic"/>
                <a:ea typeface="URW Gothic"/>
              </a:rPr>
              <a:t>the </a:t>
            </a:r>
            <a:r>
              <a:rPr lang="en-US" sz="1600" b="1" u="none" strike="noStrike">
                <a:solidFill>
                  <a:srgbClr val="D4A843"/>
                </a:solidFill>
                <a:effectLst/>
                <a:uFillTx/>
                <a:latin typeface="URW Gothic"/>
                <a:ea typeface="URW Gothic"/>
              </a:rPr>
              <a:t>two </a:t>
            </a:r>
            <a:r>
              <a:rPr lang="en-US" sz="1600" b="1" u="none" strike="noStrike">
                <a:solidFill>
                  <a:srgbClr val="D4A843"/>
                </a:solidFill>
                <a:effectLst/>
                <a:uFillTx/>
                <a:latin typeface="URW Gothic"/>
                <a:ea typeface="URW Gothic"/>
              </a:rPr>
              <a:t>tra</a:t>
            </a:r>
            <a:r>
              <a:rPr lang="en-US" sz="1600" b="1" u="none" strike="noStrike">
                <a:solidFill>
                  <a:srgbClr val="D4A843"/>
                </a:solidFill>
                <a:effectLst/>
                <a:uFillTx/>
                <a:latin typeface="URW Gothic"/>
                <a:ea typeface="URW Gothic"/>
              </a:rPr>
              <a:t>cks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9"/>
          <p:cNvSpPr/>
          <p:nvPr/>
        </p:nvSpPr>
        <p:spPr>
          <a:xfrm>
            <a:off x="777240" y="5212080"/>
            <a:ext cx="106063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8E4DD"/>
                </a:solidFill>
                <a:effectLst/>
                <a:uFillTx/>
                <a:latin typeface="Arial"/>
                <a:ea typeface="Arial"/>
              </a:rPr>
              <a:t>data/dinov3_cls_{embeddings,clusters}/   ·   </a:t>
            </a:r>
            <a:r>
              <a:rPr lang="en-US" sz="1500" b="0" u="none" strike="noStrike">
                <a:solidFill>
                  <a:srgbClr val="E8E4DD"/>
                </a:solidFill>
                <a:effectLst/>
                <a:uFillTx/>
                <a:latin typeface="Arial"/>
                <a:ea typeface="Arial"/>
              </a:rPr>
              <a:t>data/dinov3_patch_{embeddings,clusters}/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8E4DD"/>
                </a:solidFill>
                <a:effectLst/>
                <a:uFillTx/>
                <a:latin typeface="Arial"/>
                <a:ea typeface="Arial"/>
              </a:rPr>
              <a:t>Per-image vectors on disk so interrupted HPC runs </a:t>
            </a:r>
            <a:r>
              <a:rPr lang="en-US" sz="1500" b="0" u="none" strike="noStrike">
                <a:solidFill>
                  <a:srgbClr val="E8E4DD"/>
                </a:solidFill>
                <a:effectLst/>
                <a:uFillTx/>
                <a:latin typeface="Arial"/>
                <a:ea typeface="Arial"/>
              </a:rPr>
              <a:t>resume without recomputing finished images.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0"/>
          <p:cNvSpPr/>
          <p:nvPr/>
        </p:nvSpPr>
        <p:spPr>
          <a:xfrm>
            <a:off x="502920" y="6565320"/>
            <a:ext cx="91432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DINOv3  ·  thumbnail corpus  ·  2020–</a:t>
            </a: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2024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1"/>
          <p:cNvSpPr/>
          <p:nvPr/>
        </p:nvSpPr>
        <p:spPr>
          <a:xfrm>
            <a:off x="11338560" y="6565320"/>
            <a:ext cx="456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 28"/>
          <p:cNvSpPr/>
          <p:nvPr/>
        </p:nvSpPr>
        <p:spPr>
          <a:xfrm>
            <a:off x="502920" y="201240"/>
            <a:ext cx="11155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CLUSTERING </a:t>
            </a:r>
            <a:r>
              <a:rPr lang="en-US" sz="22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PARAMETERS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41"/>
          <p:cNvSpPr/>
          <p:nvPr/>
        </p:nvSpPr>
        <p:spPr>
          <a:xfrm>
            <a:off x="502920" y="585360"/>
            <a:ext cx="1115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Fit </a:t>
            </a:r>
            <a:r>
              <a:rPr lang="en-US" sz="1400" b="0" i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on </a:t>
            </a:r>
            <a:r>
              <a:rPr lang="en-US" sz="1400" b="0" i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50-</a:t>
            </a:r>
            <a:r>
              <a:rPr lang="en-US" sz="1400" b="0" i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d </a:t>
            </a:r>
            <a:r>
              <a:rPr lang="en-US" sz="1400" b="0" i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PC</a:t>
            </a:r>
            <a:r>
              <a:rPr lang="en-US" sz="1400" b="0" i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A </a:t>
            </a:r>
            <a:r>
              <a:rPr lang="en-US" sz="1400" b="0" i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(Eu</a:t>
            </a:r>
            <a:r>
              <a:rPr lang="en-US" sz="1400" b="0" i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clid</a:t>
            </a:r>
            <a:r>
              <a:rPr lang="en-US" sz="1400" b="0" i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ean</a:t>
            </a:r>
            <a:r>
              <a:rPr lang="en-US" sz="1400" b="0" i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). </a:t>
            </a:r>
            <a:r>
              <a:rPr lang="en-US" sz="1400" b="0" i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UM</a:t>
            </a:r>
            <a:r>
              <a:rPr lang="en-US" sz="1400" b="0" i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AP </a:t>
            </a:r>
            <a:r>
              <a:rPr lang="en-US" sz="1400" b="0" i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is </a:t>
            </a:r>
            <a:r>
              <a:rPr lang="en-US" sz="1400" b="0" i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visu</a:t>
            </a:r>
            <a:r>
              <a:rPr lang="en-US" sz="1400" b="0" i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alis</a:t>
            </a:r>
            <a:r>
              <a:rPr lang="en-US" sz="1400" b="0" i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atio</a:t>
            </a:r>
            <a:r>
              <a:rPr lang="en-US" sz="1400" b="0" i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n </a:t>
            </a:r>
            <a:r>
              <a:rPr lang="en-US" sz="1400" b="0" i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only </a:t>
            </a:r>
            <a:r>
              <a:rPr lang="en-US" sz="1400" b="0" i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— </a:t>
            </a:r>
            <a:r>
              <a:rPr lang="en-US" sz="1400" b="0" i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cosi</a:t>
            </a:r>
            <a:r>
              <a:rPr lang="en-US" sz="1400" b="0" i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ne, </a:t>
            </a:r>
            <a:r>
              <a:rPr lang="en-US" sz="1400" b="0" i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2D, </a:t>
            </a:r>
            <a:r>
              <a:rPr lang="en-US" sz="1400" b="0" i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n_n</a:t>
            </a:r>
            <a:r>
              <a:rPr lang="en-US" sz="1400" b="0" i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eigh</a:t>
            </a:r>
            <a:r>
              <a:rPr lang="en-US" sz="1400" b="0" i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bor</a:t>
            </a:r>
            <a:r>
              <a:rPr lang="en-US" sz="1400" b="0" i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s=3</a:t>
            </a:r>
            <a:r>
              <a:rPr lang="en-US" sz="1400" b="0" i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0, </a:t>
            </a:r>
            <a:r>
              <a:rPr lang="en-US" sz="1400" b="0" i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min</a:t>
            </a:r>
            <a:r>
              <a:rPr lang="en-US" sz="1400" b="0" i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_dis</a:t>
            </a:r>
            <a:r>
              <a:rPr lang="en-US" sz="1400" b="0" i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t=0.</a:t>
            </a:r>
            <a:r>
              <a:rPr lang="en-US" sz="1400" b="0" i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1, </a:t>
            </a:r>
            <a:r>
              <a:rPr lang="en-US" sz="1400" b="0" i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see</a:t>
            </a:r>
            <a:r>
              <a:rPr lang="en-US" sz="1400" b="0" i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d=4</a:t>
            </a:r>
            <a:r>
              <a:rPr lang="en-US" sz="1400" b="0" i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2.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4"/>
          <p:cNvSpPr/>
          <p:nvPr/>
        </p:nvSpPr>
        <p:spPr>
          <a:xfrm>
            <a:off x="502920" y="1051560"/>
            <a:ext cx="3657240" cy="4160160"/>
          </a:xfrm>
          <a:prstGeom prst="rect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4"/>
          <p:cNvSpPr/>
          <p:nvPr/>
        </p:nvSpPr>
        <p:spPr>
          <a:xfrm>
            <a:off x="502920" y="1051560"/>
            <a:ext cx="3657240" cy="9108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45"/>
          <p:cNvSpPr/>
          <p:nvPr/>
        </p:nvSpPr>
        <p:spPr>
          <a:xfrm>
            <a:off x="731520" y="128016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111" strike="noStrike">
                <a:solidFill>
                  <a:srgbClr val="D4A843"/>
                </a:solidFill>
                <a:effectLst/>
                <a:uFillTx/>
                <a:latin typeface="URW Gothic"/>
                <a:ea typeface="URW Gothic"/>
              </a:rPr>
              <a:t>CLS  ·  TIGHT GROUPS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46"/>
          <p:cNvSpPr/>
          <p:nvPr/>
        </p:nvSpPr>
        <p:spPr>
          <a:xfrm>
            <a:off x="731520" y="1572840"/>
            <a:ext cx="3200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URW Gothic"/>
                <a:ea typeface="URW Gothic"/>
              </a:rPr>
              <a:t>HDBSCAN eom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47"/>
          <p:cNvSpPr/>
          <p:nvPr/>
        </p:nvSpPr>
        <p:spPr>
          <a:xfrm>
            <a:off x="731520" y="2103120"/>
            <a:ext cx="1874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E4DD"/>
                </a:solidFill>
                <a:effectLst/>
                <a:uFillTx/>
                <a:latin typeface="Arial"/>
                <a:ea typeface="Arial"/>
              </a:rPr>
              <a:t>min_cluster_size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48"/>
          <p:cNvSpPr/>
          <p:nvPr/>
        </p:nvSpPr>
        <p:spPr>
          <a:xfrm>
            <a:off x="2468880" y="2103120"/>
            <a:ext cx="1416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URW Gothic"/>
                <a:ea typeface="URW Gothic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49"/>
          <p:cNvSpPr/>
          <p:nvPr/>
        </p:nvSpPr>
        <p:spPr>
          <a:xfrm>
            <a:off x="731520" y="2541960"/>
            <a:ext cx="1874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E4DD"/>
                </a:solidFill>
                <a:effectLst/>
                <a:uFillTx/>
                <a:latin typeface="Arial"/>
                <a:ea typeface="Arial"/>
              </a:rPr>
              <a:t>min_samples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50"/>
          <p:cNvSpPr/>
          <p:nvPr/>
        </p:nvSpPr>
        <p:spPr>
          <a:xfrm>
            <a:off x="2468880" y="2541960"/>
            <a:ext cx="1416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URW Gothic"/>
                <a:ea typeface="URW Gothic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51"/>
          <p:cNvSpPr/>
          <p:nvPr/>
        </p:nvSpPr>
        <p:spPr>
          <a:xfrm>
            <a:off x="731520" y="2980800"/>
            <a:ext cx="1874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E4DD"/>
                </a:solidFill>
                <a:effectLst/>
                <a:uFillTx/>
                <a:latin typeface="Arial"/>
                <a:ea typeface="Arial"/>
              </a:rPr>
              <a:t>metric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52"/>
          <p:cNvSpPr/>
          <p:nvPr/>
        </p:nvSpPr>
        <p:spPr>
          <a:xfrm>
            <a:off x="2468880" y="2980800"/>
            <a:ext cx="1416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URW Gothic"/>
                <a:ea typeface="URW Gothic"/>
              </a:rPr>
              <a:t>euclidean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53"/>
          <p:cNvSpPr/>
          <p:nvPr/>
        </p:nvSpPr>
        <p:spPr>
          <a:xfrm>
            <a:off x="731520" y="3420000"/>
            <a:ext cx="1874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E4DD"/>
                </a:solidFill>
                <a:effectLst/>
                <a:uFillTx/>
                <a:latin typeface="Arial"/>
                <a:ea typeface="Arial"/>
              </a:rPr>
              <a:t>selection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54"/>
          <p:cNvSpPr/>
          <p:nvPr/>
        </p:nvSpPr>
        <p:spPr>
          <a:xfrm>
            <a:off x="2468880" y="3420000"/>
            <a:ext cx="1416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URW Gothic"/>
                <a:ea typeface="URW Gothic"/>
              </a:rPr>
              <a:t>eom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55"/>
          <p:cNvSpPr/>
          <p:nvPr/>
        </p:nvSpPr>
        <p:spPr>
          <a:xfrm>
            <a:off x="731520" y="3977640"/>
            <a:ext cx="32000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D4A843"/>
                </a:solidFill>
                <a:effectLst/>
                <a:uFillTx/>
                <a:latin typeface="Arial"/>
                <a:ea typeface="Arial"/>
              </a:rPr>
              <a:t>539 clusters  ·  69% noise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9"/>
          <p:cNvSpPr/>
          <p:nvPr/>
        </p:nvSpPr>
        <p:spPr>
          <a:xfrm>
            <a:off x="4343400" y="1051560"/>
            <a:ext cx="3657240" cy="4160160"/>
          </a:xfrm>
          <a:prstGeom prst="rect">
            <a:avLst/>
          </a:prstGeom>
          <a:solidFill>
            <a:srgbClr val="1623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20"/>
          <p:cNvSpPr/>
          <p:nvPr/>
        </p:nvSpPr>
        <p:spPr>
          <a:xfrm>
            <a:off x="4343400" y="1051560"/>
            <a:ext cx="3657240" cy="9108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56"/>
          <p:cNvSpPr/>
          <p:nvPr/>
        </p:nvSpPr>
        <p:spPr>
          <a:xfrm>
            <a:off x="4572000" y="128016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111" strike="noStrike">
                <a:solidFill>
                  <a:srgbClr val="0E7C86"/>
                </a:solidFill>
                <a:effectLst/>
                <a:uFillTx/>
                <a:latin typeface="URW Gothic"/>
                <a:ea typeface="URW Gothic"/>
              </a:rPr>
              <a:t>CLS  ·  FULL TAXONOMY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57"/>
          <p:cNvSpPr/>
          <p:nvPr/>
        </p:nvSpPr>
        <p:spPr>
          <a:xfrm>
            <a:off x="4572000" y="1572840"/>
            <a:ext cx="3200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URW Gothic"/>
                <a:ea typeface="URW Gothic"/>
              </a:rPr>
              <a:t>k-means K=40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58"/>
          <p:cNvSpPr/>
          <p:nvPr/>
        </p:nvSpPr>
        <p:spPr>
          <a:xfrm>
            <a:off x="4572000" y="2103120"/>
            <a:ext cx="1874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E4DD"/>
                </a:solidFill>
                <a:effectLst/>
                <a:uFillTx/>
                <a:latin typeface="Arial"/>
                <a:ea typeface="Arial"/>
              </a:rPr>
              <a:t>n_clusters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59"/>
          <p:cNvSpPr/>
          <p:nvPr/>
        </p:nvSpPr>
        <p:spPr>
          <a:xfrm>
            <a:off x="6309360" y="2103120"/>
            <a:ext cx="1416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URW Gothic"/>
                <a:ea typeface="URW Gothic"/>
              </a:rPr>
              <a:t>40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60"/>
          <p:cNvSpPr/>
          <p:nvPr/>
        </p:nvSpPr>
        <p:spPr>
          <a:xfrm>
            <a:off x="4572000" y="2541960"/>
            <a:ext cx="1874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E4DD"/>
                </a:solidFill>
                <a:effectLst/>
                <a:uFillTx/>
                <a:latin typeface="Arial"/>
                <a:ea typeface="Arial"/>
              </a:rPr>
              <a:t>n_init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61"/>
          <p:cNvSpPr/>
          <p:nvPr/>
        </p:nvSpPr>
        <p:spPr>
          <a:xfrm>
            <a:off x="6309360" y="2541960"/>
            <a:ext cx="1416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URW Gothic"/>
                <a:ea typeface="URW Gothic"/>
              </a:rPr>
              <a:t>10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62"/>
          <p:cNvSpPr/>
          <p:nvPr/>
        </p:nvSpPr>
        <p:spPr>
          <a:xfrm>
            <a:off x="4572000" y="2980800"/>
            <a:ext cx="1874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E4DD"/>
                </a:solidFill>
                <a:effectLst/>
                <a:uFillTx/>
                <a:latin typeface="Arial"/>
                <a:ea typeface="Arial"/>
              </a:rPr>
              <a:t>init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63"/>
          <p:cNvSpPr/>
          <p:nvPr/>
        </p:nvSpPr>
        <p:spPr>
          <a:xfrm>
            <a:off x="6309360" y="2980800"/>
            <a:ext cx="1416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URW Gothic"/>
                <a:ea typeface="URW Gothic"/>
              </a:rPr>
              <a:t>k-means++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64"/>
          <p:cNvSpPr/>
          <p:nvPr/>
        </p:nvSpPr>
        <p:spPr>
          <a:xfrm>
            <a:off x="4572000" y="3420000"/>
            <a:ext cx="1874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E4DD"/>
                </a:solidFill>
                <a:effectLst/>
                <a:uFillTx/>
                <a:latin typeface="Arial"/>
                <a:ea typeface="Arial"/>
              </a:rPr>
              <a:t>random_state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65"/>
          <p:cNvSpPr/>
          <p:nvPr/>
        </p:nvSpPr>
        <p:spPr>
          <a:xfrm>
            <a:off x="6309360" y="3420000"/>
            <a:ext cx="1416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URW Gothic"/>
                <a:ea typeface="URW Gothic"/>
              </a:rPr>
              <a:t>42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66"/>
          <p:cNvSpPr/>
          <p:nvPr/>
        </p:nvSpPr>
        <p:spPr>
          <a:xfrm>
            <a:off x="4572000" y="3977640"/>
            <a:ext cx="32000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7C86"/>
                </a:solidFill>
                <a:effectLst/>
                <a:uFillTx/>
                <a:latin typeface="Arial"/>
                <a:ea typeface="Arial"/>
              </a:rPr>
              <a:t>40 clusters  ·  0% noise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21"/>
          <p:cNvSpPr/>
          <p:nvPr/>
        </p:nvSpPr>
        <p:spPr>
          <a:xfrm>
            <a:off x="8183880" y="1051560"/>
            <a:ext cx="3657240" cy="41601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23"/>
          <p:cNvSpPr/>
          <p:nvPr/>
        </p:nvSpPr>
        <p:spPr>
          <a:xfrm>
            <a:off x="8183880" y="1051560"/>
            <a:ext cx="3657240" cy="9108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67"/>
          <p:cNvSpPr/>
          <p:nvPr/>
        </p:nvSpPr>
        <p:spPr>
          <a:xfrm>
            <a:off x="8412480" y="128016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111" strike="noStrike">
                <a:solidFill>
                  <a:srgbClr val="0E7C86"/>
                </a:solidFill>
                <a:effectLst/>
                <a:uFillTx/>
                <a:latin typeface="URW Gothic"/>
                <a:ea typeface="URW Gothic"/>
              </a:rPr>
              <a:t>PATCH  ·  LOCAL UNITS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68"/>
          <p:cNvSpPr/>
          <p:nvPr/>
        </p:nvSpPr>
        <p:spPr>
          <a:xfrm>
            <a:off x="8412480" y="1572840"/>
            <a:ext cx="3200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HDBSCAN eom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69"/>
          <p:cNvSpPr/>
          <p:nvPr/>
        </p:nvSpPr>
        <p:spPr>
          <a:xfrm>
            <a:off x="8412480" y="2103120"/>
            <a:ext cx="1874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min_cluster_size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70"/>
          <p:cNvSpPr/>
          <p:nvPr/>
        </p:nvSpPr>
        <p:spPr>
          <a:xfrm>
            <a:off x="10149840" y="2103120"/>
            <a:ext cx="1416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30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71"/>
          <p:cNvSpPr/>
          <p:nvPr/>
        </p:nvSpPr>
        <p:spPr>
          <a:xfrm>
            <a:off x="8412480" y="2541960"/>
            <a:ext cx="1874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min_samples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72"/>
          <p:cNvSpPr/>
          <p:nvPr/>
        </p:nvSpPr>
        <p:spPr>
          <a:xfrm>
            <a:off x="10149840" y="2541960"/>
            <a:ext cx="1416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73"/>
          <p:cNvSpPr/>
          <p:nvPr/>
        </p:nvSpPr>
        <p:spPr>
          <a:xfrm>
            <a:off x="8412480" y="2980800"/>
            <a:ext cx="1874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metric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74"/>
          <p:cNvSpPr/>
          <p:nvPr/>
        </p:nvSpPr>
        <p:spPr>
          <a:xfrm>
            <a:off x="10149840" y="2980800"/>
            <a:ext cx="1416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euclidean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75"/>
          <p:cNvSpPr/>
          <p:nvPr/>
        </p:nvSpPr>
        <p:spPr>
          <a:xfrm>
            <a:off x="8412480" y="3420000"/>
            <a:ext cx="1874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selection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76"/>
          <p:cNvSpPr/>
          <p:nvPr/>
        </p:nvSpPr>
        <p:spPr>
          <a:xfrm>
            <a:off x="10149840" y="3420000"/>
            <a:ext cx="1416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eom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77"/>
          <p:cNvSpPr/>
          <p:nvPr/>
        </p:nvSpPr>
        <p:spPr>
          <a:xfrm>
            <a:off x="8412480" y="3977640"/>
            <a:ext cx="32000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7C86"/>
                </a:solidFill>
                <a:effectLst/>
                <a:uFillTx/>
                <a:latin typeface="Arial"/>
                <a:ea typeface="Arial"/>
              </a:rPr>
              <a:t>1,285 clusters  ·  84% noise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26"/>
          <p:cNvSpPr/>
          <p:nvPr/>
        </p:nvSpPr>
        <p:spPr>
          <a:xfrm>
            <a:off x="502920" y="5394960"/>
            <a:ext cx="11201400" cy="914040"/>
          </a:xfrm>
          <a:prstGeom prst="rect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78"/>
          <p:cNvSpPr/>
          <p:nvPr/>
        </p:nvSpPr>
        <p:spPr>
          <a:xfrm>
            <a:off x="731520" y="5577840"/>
            <a:ext cx="10744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E4DD"/>
                </a:solidFill>
                <a:effectLst/>
                <a:uFillTx/>
                <a:latin typeface="Arial"/>
                <a:ea typeface="Arial"/>
              </a:rPr>
              <a:t>Shared reduction  ·  PCA 50 (58.9% CLS / 55.2% patch variance)  ·  seed 42  ·  agglomerative Ward is implemented but not used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79"/>
          <p:cNvSpPr/>
          <p:nvPr/>
        </p:nvSpPr>
        <p:spPr>
          <a:xfrm>
            <a:off x="502920" y="6565320"/>
            <a:ext cx="9144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DINOv3  ·  thumbnail corpus  ·  2020–2024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80"/>
          <p:cNvSpPr/>
          <p:nvPr/>
        </p:nvSpPr>
        <p:spPr>
          <a:xfrm>
            <a:off x="11338560" y="6565320"/>
            <a:ext cx="456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 0"/>
          <p:cNvSpPr/>
          <p:nvPr/>
        </p:nvSpPr>
        <p:spPr>
          <a:xfrm>
            <a:off x="502920" y="201240"/>
            <a:ext cx="676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CLS: TWO CLUSTERING ALGORITHMS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"/>
          <p:cNvSpPr/>
          <p:nvPr/>
        </p:nvSpPr>
        <p:spPr>
          <a:xfrm>
            <a:off x="502920" y="585360"/>
            <a:ext cx="67658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Same 8,666 vectors. Shared PCA 50 + UMAP neighbors 30.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2"/>
          <p:cNvSpPr/>
          <p:nvPr/>
        </p:nvSpPr>
        <p:spPr>
          <a:xfrm>
            <a:off x="502920" y="1143000"/>
            <a:ext cx="6765840" cy="2148120"/>
          </a:xfrm>
          <a:prstGeom prst="rect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3"/>
          <p:cNvSpPr/>
          <p:nvPr/>
        </p:nvSpPr>
        <p:spPr>
          <a:xfrm>
            <a:off x="731520" y="1280160"/>
            <a:ext cx="6308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pc="119" strike="noStrike">
                <a:solidFill>
                  <a:srgbClr val="D4A843"/>
                </a:solidFill>
                <a:effectLst/>
                <a:uFillTx/>
                <a:latin typeface="URW Gothic"/>
                <a:ea typeface="URW Gothic"/>
              </a:rPr>
              <a:t>TIGHT GROUPS  ·  HDBSCAN eom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4"/>
          <p:cNvSpPr/>
          <p:nvPr/>
        </p:nvSpPr>
        <p:spPr>
          <a:xfrm>
            <a:off x="731520" y="1600200"/>
            <a:ext cx="63086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URW Gothic"/>
                <a:ea typeface="URW Gothic"/>
              </a:rPr>
              <a:t>539 clusters  ·  69% noise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5"/>
          <p:cNvSpPr/>
          <p:nvPr/>
        </p:nvSpPr>
        <p:spPr>
          <a:xfrm>
            <a:off x="731520" y="2103120"/>
            <a:ext cx="630864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8E4DD"/>
                </a:solidFill>
                <a:effectLst/>
                <a:uFillTx/>
                <a:latin typeface="Arial"/>
                <a:ea typeface="Arial"/>
              </a:rPr>
              <a:t>2,666 images assigned. Median cluster size 4; largest 56. Most groups are near-duplicates or very tight visual copies. High noise is a finding: many unique compositions.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6"/>
          <p:cNvSpPr/>
          <p:nvPr/>
        </p:nvSpPr>
        <p:spPr>
          <a:xfrm>
            <a:off x="502920" y="3429000"/>
            <a:ext cx="6765840" cy="2696760"/>
          </a:xfrm>
          <a:prstGeom prst="rect">
            <a:avLst/>
          </a:prstGeom>
          <a:solidFill>
            <a:srgbClr val="1623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7"/>
          <p:cNvSpPr/>
          <p:nvPr/>
        </p:nvSpPr>
        <p:spPr>
          <a:xfrm>
            <a:off x="731520" y="3566160"/>
            <a:ext cx="6308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pc="119" strike="noStrike">
                <a:solidFill>
                  <a:srgbClr val="0E7C86"/>
                </a:solidFill>
                <a:effectLst/>
                <a:uFillTx/>
                <a:latin typeface="URW Gothic"/>
                <a:ea typeface="URW Gothic"/>
              </a:rPr>
              <a:t>FULL-CORPUS TAXONOMY  ·  K-MEANS K=40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8"/>
          <p:cNvSpPr/>
          <p:nvPr/>
        </p:nvSpPr>
        <p:spPr>
          <a:xfrm>
            <a:off x="731520" y="3886200"/>
            <a:ext cx="63086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URW Gothic"/>
                <a:ea typeface="URW Gothic"/>
              </a:rPr>
              <a:t>40 clusters  ·  0% noise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9"/>
          <p:cNvSpPr/>
          <p:nvPr/>
        </p:nvSpPr>
        <p:spPr>
          <a:xfrm>
            <a:off x="731520" y="4389120"/>
            <a:ext cx="630864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8E4DD"/>
                </a:solidFill>
                <a:effectLst/>
                <a:uFillTx/>
                <a:latin typeface="Arial"/>
                <a:ea typeface="Arial"/>
              </a:rPr>
              <a:t>Every thumbnail gets a type. Sizes 73–404 (median 212). This is the working visual taxonomy for sampling and year-wise mix. Right: UMAP of k-means labels.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0"/>
          <p:cNvSpPr/>
          <p:nvPr/>
        </p:nvSpPr>
        <p:spPr>
          <a:xfrm>
            <a:off x="7452360" y="1143000"/>
            <a:ext cx="4296960" cy="49827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7" name="Image 0" descr="/var/home/olga/Documents/thmbnail/tmp_slides/umap_kmeans.png"/>
          <p:cNvPicPr/>
          <p:nvPr/>
        </p:nvPicPr>
        <p:blipFill>
          <a:blip r:embed="rId1"/>
          <a:stretch/>
        </p:blipFill>
        <p:spPr>
          <a:xfrm>
            <a:off x="7543800" y="1280160"/>
            <a:ext cx="4114080" cy="420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8" name="Text 11"/>
          <p:cNvSpPr/>
          <p:nvPr/>
        </p:nvSpPr>
        <p:spPr>
          <a:xfrm>
            <a:off x="7543800" y="5623560"/>
            <a:ext cx="4114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K-means K=40  ·  UMAP of CLS space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2"/>
          <p:cNvSpPr/>
          <p:nvPr/>
        </p:nvSpPr>
        <p:spPr>
          <a:xfrm>
            <a:off x="502920" y="6565320"/>
            <a:ext cx="91432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DINOv3  ·  thumbnail corpus  ·  2020–2024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3"/>
          <p:cNvSpPr/>
          <p:nvPr/>
        </p:nvSpPr>
        <p:spPr>
          <a:xfrm>
            <a:off x="11338560" y="6565320"/>
            <a:ext cx="456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 0"/>
          <p:cNvSpPr/>
          <p:nvPr/>
        </p:nvSpPr>
        <p:spPr>
          <a:xfrm>
            <a:off x="502920" y="201240"/>
            <a:ext cx="676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PATCH: LOCAL UNITS, NOT WHOLE THUMBNAILS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"/>
          <p:cNvSpPr/>
          <p:nvPr/>
        </p:nvSpPr>
        <p:spPr>
          <a:xfrm>
            <a:off x="502920" y="585360"/>
            <a:ext cx="67658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HDBSCAN eom · 970,592 tokens · min size 30 · min samples 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2"/>
          <p:cNvSpPr/>
          <p:nvPr/>
        </p:nvSpPr>
        <p:spPr>
          <a:xfrm>
            <a:off x="502920" y="1143000"/>
            <a:ext cx="6765840" cy="1114920"/>
          </a:xfrm>
          <a:prstGeom prst="rect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3"/>
          <p:cNvSpPr/>
          <p:nvPr/>
        </p:nvSpPr>
        <p:spPr>
          <a:xfrm>
            <a:off x="731520" y="1307520"/>
            <a:ext cx="6400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URW Gothic"/>
                <a:ea typeface="URW Gothic"/>
              </a:rPr>
              <a:t>1,285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4"/>
          <p:cNvSpPr/>
          <p:nvPr/>
        </p:nvSpPr>
        <p:spPr>
          <a:xfrm>
            <a:off x="731520" y="1783080"/>
            <a:ext cx="6400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99" strike="noStrike">
                <a:solidFill>
                  <a:srgbClr val="D4A843"/>
                </a:solidFill>
                <a:effectLst/>
                <a:uFillTx/>
                <a:latin typeface="URW Gothic"/>
                <a:ea typeface="URW Gothic"/>
              </a:rPr>
              <a:t>CLUSTERS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5"/>
          <p:cNvSpPr/>
          <p:nvPr/>
        </p:nvSpPr>
        <p:spPr>
          <a:xfrm>
            <a:off x="502920" y="2377440"/>
            <a:ext cx="6765840" cy="1114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6"/>
          <p:cNvSpPr/>
          <p:nvPr/>
        </p:nvSpPr>
        <p:spPr>
          <a:xfrm>
            <a:off x="731520" y="2541960"/>
            <a:ext cx="6400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83.7%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7"/>
          <p:cNvSpPr/>
          <p:nvPr/>
        </p:nvSpPr>
        <p:spPr>
          <a:xfrm>
            <a:off x="731520" y="3017520"/>
            <a:ext cx="6400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99" strike="noStrike">
                <a:solidFill>
                  <a:srgbClr val="0E7C86"/>
                </a:solidFill>
                <a:effectLst/>
                <a:uFillTx/>
                <a:latin typeface="URW Gothic"/>
                <a:ea typeface="URW Gothic"/>
              </a:rPr>
              <a:t>NOISE TOKENS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8"/>
          <p:cNvSpPr/>
          <p:nvPr/>
        </p:nvSpPr>
        <p:spPr>
          <a:xfrm>
            <a:off x="502920" y="3611880"/>
            <a:ext cx="6765840" cy="1114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9"/>
          <p:cNvSpPr/>
          <p:nvPr/>
        </p:nvSpPr>
        <p:spPr>
          <a:xfrm>
            <a:off x="731520" y="3776400"/>
            <a:ext cx="6400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157,946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0"/>
          <p:cNvSpPr/>
          <p:nvPr/>
        </p:nvSpPr>
        <p:spPr>
          <a:xfrm>
            <a:off x="731520" y="4251960"/>
            <a:ext cx="6400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99" strike="noStrike">
                <a:solidFill>
                  <a:srgbClr val="0E7C86"/>
                </a:solidFill>
                <a:effectLst/>
                <a:uFillTx/>
                <a:latin typeface="URW Gothic"/>
                <a:ea typeface="URW Gothic"/>
              </a:rPr>
              <a:t>ASSIGNED TOKENS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11"/>
          <p:cNvSpPr/>
          <p:nvPr/>
        </p:nvSpPr>
        <p:spPr>
          <a:xfrm>
            <a:off x="7452360" y="1143000"/>
            <a:ext cx="4296960" cy="49827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3" name="Image 0" descr="/var/home/olga/Documents/thmbnail/tmp_slides/umap_patch.png"/>
          <p:cNvPicPr/>
          <p:nvPr/>
        </p:nvPicPr>
        <p:blipFill>
          <a:blip r:embed="rId1"/>
          <a:stretch/>
        </p:blipFill>
        <p:spPr>
          <a:xfrm>
            <a:off x="7543800" y="1280160"/>
            <a:ext cx="4114080" cy="420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Text 12"/>
          <p:cNvSpPr/>
          <p:nvPr/>
        </p:nvSpPr>
        <p:spPr>
          <a:xfrm>
            <a:off x="7543800" y="5623560"/>
            <a:ext cx="4114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Patch-token UMAP  ·  dense local space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3"/>
          <p:cNvSpPr/>
          <p:nvPr/>
        </p:nvSpPr>
        <p:spPr>
          <a:xfrm>
            <a:off x="502920" y="6565320"/>
            <a:ext cx="91432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DINOv3  ·  thumbnail corpus  ·  2020–2024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4"/>
          <p:cNvSpPr/>
          <p:nvPr/>
        </p:nvSpPr>
        <p:spPr>
          <a:xfrm>
            <a:off x="11338560" y="6565320"/>
            <a:ext cx="456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 0"/>
          <p:cNvSpPr/>
          <p:nvPr/>
        </p:nvSpPr>
        <p:spPr>
          <a:xfrm>
            <a:off x="502920" y="255960"/>
            <a:ext cx="11154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TAKEAWAYS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"/>
          <p:cNvSpPr/>
          <p:nvPr/>
        </p:nvSpPr>
        <p:spPr>
          <a:xfrm>
            <a:off x="502920" y="868680"/>
            <a:ext cx="109080" cy="107820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2"/>
          <p:cNvSpPr/>
          <p:nvPr/>
        </p:nvSpPr>
        <p:spPr>
          <a:xfrm>
            <a:off x="612720" y="868680"/>
            <a:ext cx="11063520" cy="1078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3"/>
          <p:cNvSpPr/>
          <p:nvPr/>
        </p:nvSpPr>
        <p:spPr>
          <a:xfrm>
            <a:off x="868680" y="1005840"/>
            <a:ext cx="63936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D4A843"/>
                </a:solidFill>
                <a:effectLst/>
                <a:uFillTx/>
                <a:latin typeface="URW Gothic"/>
                <a:ea typeface="URW Gothic"/>
              </a:rPr>
              <a:t>01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4"/>
          <p:cNvSpPr/>
          <p:nvPr/>
        </p:nvSpPr>
        <p:spPr>
          <a:xfrm>
            <a:off x="1600200" y="978480"/>
            <a:ext cx="9691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The pipeline is done on the whole corpus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5"/>
          <p:cNvSpPr/>
          <p:nvPr/>
        </p:nvSpPr>
        <p:spPr>
          <a:xfrm>
            <a:off x="1600200" y="1371600"/>
            <a:ext cx="96919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8,666 CLS vectors and 970,592 patch tokens from ViT-L/16; both clusterings written to disk.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6"/>
          <p:cNvSpPr/>
          <p:nvPr/>
        </p:nvSpPr>
        <p:spPr>
          <a:xfrm>
            <a:off x="502920" y="2103120"/>
            <a:ext cx="109080" cy="107820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7"/>
          <p:cNvSpPr/>
          <p:nvPr/>
        </p:nvSpPr>
        <p:spPr>
          <a:xfrm>
            <a:off x="612720" y="2103120"/>
            <a:ext cx="11063520" cy="1078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8"/>
          <p:cNvSpPr/>
          <p:nvPr/>
        </p:nvSpPr>
        <p:spPr>
          <a:xfrm>
            <a:off x="868680" y="2240280"/>
            <a:ext cx="63936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D4A843"/>
                </a:solidFill>
                <a:effectLst/>
                <a:uFillTx/>
                <a:latin typeface="URW Gothic"/>
                <a:ea typeface="URW Gothic"/>
              </a:rPr>
              <a:t>02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9"/>
          <p:cNvSpPr/>
          <p:nvPr/>
        </p:nvSpPr>
        <p:spPr>
          <a:xfrm>
            <a:off x="1600200" y="2212920"/>
            <a:ext cx="9691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Two tracks, two CLS clusterings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0"/>
          <p:cNvSpPr/>
          <p:nvPr/>
        </p:nvSpPr>
        <p:spPr>
          <a:xfrm>
            <a:off x="1600200" y="2606040"/>
            <a:ext cx="96919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HDBSCAN = tight / noisy. K-means K=40 = complete taxonomy. Patch HDBSCAN = local units.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11"/>
          <p:cNvSpPr/>
          <p:nvPr/>
        </p:nvSpPr>
        <p:spPr>
          <a:xfrm>
            <a:off x="502920" y="3337560"/>
            <a:ext cx="109080" cy="107820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12"/>
          <p:cNvSpPr/>
          <p:nvPr/>
        </p:nvSpPr>
        <p:spPr>
          <a:xfrm>
            <a:off x="612720" y="3337560"/>
            <a:ext cx="11063520" cy="1078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3"/>
          <p:cNvSpPr/>
          <p:nvPr/>
        </p:nvSpPr>
        <p:spPr>
          <a:xfrm>
            <a:off x="868680" y="3474720"/>
            <a:ext cx="63936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D4A843"/>
                </a:solidFill>
                <a:effectLst/>
                <a:uFillTx/>
                <a:latin typeface="URW Gothic"/>
                <a:ea typeface="URW Gothic"/>
              </a:rPr>
              <a:t>03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4"/>
          <p:cNvSpPr/>
          <p:nvPr/>
        </p:nvSpPr>
        <p:spPr>
          <a:xfrm>
            <a:off x="1600200" y="3447360"/>
            <a:ext cx="9691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High noise is a result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5"/>
          <p:cNvSpPr/>
          <p:nvPr/>
        </p:nvSpPr>
        <p:spPr>
          <a:xfrm>
            <a:off x="1600200" y="3840480"/>
            <a:ext cx="96919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69% CLS noise and 84% patch noise mean the corpus is visually diverse, not a small set of templates.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16"/>
          <p:cNvSpPr/>
          <p:nvPr/>
        </p:nvSpPr>
        <p:spPr>
          <a:xfrm>
            <a:off x="502920" y="4572000"/>
            <a:ext cx="109080" cy="107820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17"/>
          <p:cNvSpPr/>
          <p:nvPr/>
        </p:nvSpPr>
        <p:spPr>
          <a:xfrm>
            <a:off x="612720" y="4572000"/>
            <a:ext cx="11063520" cy="1078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8"/>
          <p:cNvSpPr/>
          <p:nvPr/>
        </p:nvSpPr>
        <p:spPr>
          <a:xfrm>
            <a:off x="868680" y="4709160"/>
            <a:ext cx="63936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D4A843"/>
                </a:solidFill>
                <a:effectLst/>
                <a:uFillTx/>
                <a:latin typeface="URW Gothic"/>
                <a:ea typeface="URW Gothic"/>
              </a:rPr>
              <a:t>04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9"/>
          <p:cNvSpPr/>
          <p:nvPr/>
        </p:nvSpPr>
        <p:spPr>
          <a:xfrm>
            <a:off x="1600200" y="4681800"/>
            <a:ext cx="9691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B2A4A"/>
                </a:solidFill>
                <a:effectLst/>
                <a:uFillTx/>
                <a:latin typeface="URW Gothic"/>
                <a:ea typeface="URW Gothic"/>
              </a:rPr>
              <a:t>Next work is interpretation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0"/>
          <p:cNvSpPr/>
          <p:nvPr/>
        </p:nvSpPr>
        <p:spPr>
          <a:xfrm>
            <a:off x="1600200" y="5074920"/>
            <a:ext cx="96919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C2C2C"/>
                </a:solidFill>
                <a:effectLst/>
                <a:uFillTx/>
                <a:latin typeface="Arial"/>
                <a:ea typeface="Arial"/>
              </a:rPr>
              <a:t>Name clusters from sample grids; tabulate cluster × year; overlay VLM codes on a stratified subsample.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21"/>
          <p:cNvSpPr/>
          <p:nvPr/>
        </p:nvSpPr>
        <p:spPr>
          <a:xfrm>
            <a:off x="502920" y="6565320"/>
            <a:ext cx="91432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DINOv3  ·  thumbnail corpus  ·  2020–2024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22"/>
          <p:cNvSpPr/>
          <p:nvPr/>
        </p:nvSpPr>
        <p:spPr>
          <a:xfrm>
            <a:off x="11338560" y="6565320"/>
            <a:ext cx="456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LibreOffice/26.2.5.2$Linux_X86_64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2026-08-31T08:40:24Z</dcterms:created>
  <dc:creator>Olga Lyashevska</dc:creator>
  <dc:description/>
  <dc:language>en-US</dc:language>
  <cp:lastModifiedBy>Olga</cp:lastModifiedBy>
  <dcterms:modified xsi:type="dcterms:W3CDTF">2026-08-31T11:58:03Z</dcterms:modified>
  <cp:revision>3</cp:revision>
  <dc:subject>Label-free visual structure for 8,666 adult-video thumbnails (2020–2024)</dc:subject>
  <dc:title>DINOv3 on this thumbnail corpus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